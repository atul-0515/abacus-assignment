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embeddedFontLst>
    <p:embeddedFont>
      <p:font typeface="Playfair Display"/>
      <p:regular r:id="rId20"/>
    </p:embeddedFont>
    <p:embeddedFont>
      <p:font typeface="Inter Light"/>
      <p:regular r:id="rId21"/>
    </p:embeddedFont>
    <p:embeddedFont>
      <p:font typeface="Inter SemiBold"/>
      <p:regular r:id="rId22"/>
    </p:embeddedFont>
    <p:embeddedFont>
      <p:font typeface="Inter" panose="02000503000000020004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6" name="Google Shape;116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5" name="Google Shape;155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3" name="Google Shape;193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6" name="Google Shape;236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7" name="Google Shape;257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0" name="Google Shape;270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9" name="Google Shape;289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github.com/Atul-0515/Abacus-Assignment" TargetMode="External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4152900"/>
            <a:ext cx="1905000" cy="174292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71525" y="962025"/>
            <a:ext cx="11181397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Healthcare Fraud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Detection System</a:t>
            </a:r>
            <a:endParaRPr lang="en-US" sz="6000" b="1" i="0" u="none" strike="noStrike" cap="none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2828925"/>
            <a:ext cx="106489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A5D6A7"/>
                </a:solidFill>
                <a:latin typeface="Inter Light"/>
                <a:ea typeface="Inter Light"/>
                <a:cs typeface="Inter Light"/>
                <a:sym typeface="Inter Light"/>
              </a:rPr>
              <a:t>ETL + Machine Learning + RAG Architecture</a:t>
            </a:r>
            <a:endParaRPr lang="en-US" sz="2400" b="0" i="0" u="none" strike="noStrike" cap="none">
              <a:solidFill>
                <a:srgbClr val="A5D6A7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4524375"/>
            <a:ext cx="19050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rPr>
              <a:t>Abacus Assignment</a:t>
            </a:r>
            <a:br>
              <a:rPr lang="en-US" sz="1350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r>
              <a:rPr lang="en-US" sz="1350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rPr>
              <a:t>2025</a:t>
            </a:r>
            <a:endParaRPr lang="en-US" sz="1350">
              <a:solidFill>
                <a:srgbClr val="88888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71525" y="5301555"/>
            <a:ext cx="1905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ATUL KUMAR</a:t>
            </a:r>
            <a:endParaRPr lang="en-US" sz="18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381750" y="1628775"/>
            <a:ext cx="5038725" cy="493871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71525" y="581025"/>
            <a:ext cx="1118139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Silent Crisis in Healthcare</a:t>
            </a:r>
            <a:endParaRPr lang="en-US" sz="36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771525" y="1333500"/>
            <a:ext cx="106489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71525" y="1838325"/>
            <a:ext cx="50387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Every year, the healthcare industry bleeds </a:t>
            </a: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$68 billion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due to fraudulent claims—money that should be spent on patient care, not criminal pockets.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3053357"/>
            <a:ext cx="5038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The current state of defense is outdated: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762750" y="2009775"/>
            <a:ext cx="449056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Why this matters</a:t>
            </a:r>
            <a:endParaRPr lang="en-US" sz="1950" b="0" i="0" u="none" strike="noStrike" cap="non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762750" y="2514600"/>
            <a:ext cx="42767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It's not just about financial loss. Delayed detection means: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762750" y="5306615"/>
            <a:ext cx="42767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A5D6A7"/>
                </a:solidFill>
                <a:latin typeface="Inter Light"/>
                <a:ea typeface="Inter Light"/>
                <a:cs typeface="Inter Light"/>
                <a:sym typeface="Inter Light"/>
              </a:rPr>
              <a:t>"We need a system that thinks faster than the fraudsters."</a:t>
            </a:r>
            <a:endParaRPr lang="en-US" sz="1650" b="0" i="1" u="none" strike="noStrike" cap="none">
              <a:solidFill>
                <a:srgbClr val="A5D6A7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95350" y="3599021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009650" y="3598068"/>
            <a:ext cx="4800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Human Bottlenecks: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Manual review is agonizingly slow.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95350" y="4412218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009650" y="4411265"/>
            <a:ext cx="4800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Reactive, Not Proactive: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We catch fraud only after it happens.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895350" y="5225415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009650" y="5224462"/>
            <a:ext cx="48006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Blindness: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Investigators are drowning in spreadsheets, unable to see the forest for the trees.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886575" y="3395424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7000875" y="3394475"/>
            <a:ext cx="4276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Higher insurance premiums for </a:t>
            </a:r>
            <a:r>
              <a:rPr lang="en-US" sz="1650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everyone</a:t>
            </a:r>
            <a:endParaRPr sz="1650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886575" y="3873460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7000875" y="3872507"/>
            <a:ext cx="4038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Resources diverted from legitimate claims.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886575" y="4686657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7000875" y="4685704"/>
            <a:ext cx="4038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Eroded trust in the healthcare system.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/>
        </p:nvSpPr>
        <p:spPr>
          <a:xfrm>
            <a:off x="771525" y="581025"/>
            <a:ext cx="1118139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Meeting the Challenge with AI</a:t>
            </a:r>
            <a:endParaRPr lang="en-US" sz="36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771525" y="1333500"/>
            <a:ext cx="106489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771525" y="1895475"/>
            <a:ext cx="106489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We built more than a detection tool; we built an intelligent analyst.</a:t>
            </a:r>
            <a:endParaRPr lang="en-US" sz="2100" b="0" i="0" u="none" strike="noStrike" cap="none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771525" y="2703165"/>
            <a:ext cx="529066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Our Approach</a:t>
            </a:r>
            <a:endParaRPr lang="en-US" sz="1950" b="0" i="0" u="none" strike="noStrike" cap="non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771525" y="3207990"/>
            <a:ext cx="50387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An end-to-end ecosystem that combines the statistical rigor of </a:t>
            </a: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Traditional Machine Learning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with the interactive intelligence of </a:t>
            </a: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Generative AI (RAG)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381750" y="2703165"/>
            <a:ext cx="529066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Innovation</a:t>
            </a:r>
            <a:endParaRPr lang="en-US" sz="1950" b="0" i="0" u="none" strike="noStrike" cap="non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381750" y="3207990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Traditionally, fraud detection is a "Black Box"—it says No, but doesn't say why.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381750" y="4087862"/>
            <a:ext cx="5038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 changed that.</a:t>
            </a:r>
            <a:endParaRPr lang="en-US" sz="1650" b="0" i="0" u="none" strike="noStrike" cap="non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895350" y="4759136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1009650" y="4758183"/>
            <a:ext cx="4800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95% Accuracy: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Automated flagging of suspicious claims.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895350" y="5572333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009650" y="5571380"/>
            <a:ext cx="4800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Real-Time: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Analysis happens the moment a claim is submitted.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505575" y="4633525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6619875" y="4632573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Explainable AI: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Every flag comes with a "Why".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6505575" y="5111561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6619875" y="5110608"/>
            <a:ext cx="48006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Conversational Interface: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Investigators can literally </a:t>
            </a:r>
            <a:r>
              <a:rPr lang="en-US" sz="1650" b="0" i="1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talk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to the data. "Show me suspicious cardiac claims."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1525" y="1628775"/>
            <a:ext cx="3422600" cy="3817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384625" y="1628775"/>
            <a:ext cx="3422600" cy="3817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997725" y="1628775"/>
            <a:ext cx="3422749" cy="381773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771525" y="581025"/>
            <a:ext cx="1118139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From Chaos to Clarity: The Architecture</a:t>
            </a:r>
            <a:endParaRPr lang="en-US" sz="36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771525" y="1333500"/>
            <a:ext cx="106489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771525" y="5732264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AAAAA"/>
                </a:solidFill>
                <a:latin typeface="Inter Light"/>
                <a:ea typeface="Inter Light"/>
                <a:cs typeface="Inter Light"/>
                <a:sym typeface="Inter Light"/>
              </a:rPr>
              <a:t>This pipeline ensures data flows seamlessly from raw CSVs to actionable intelligence.</a:t>
            </a:r>
            <a:endParaRPr lang="en-US" sz="1650" b="0" i="0" u="none" strike="noStrike" cap="none">
              <a:solidFill>
                <a:srgbClr val="AAAAAA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1038225" y="1866900"/>
            <a:ext cx="306366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5D6A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INGEST (BRONZE)</a:t>
            </a:r>
            <a:endParaRPr lang="en-US" sz="1650" b="0" i="0" u="none" strike="noStrike" cap="none">
              <a:solidFill>
                <a:srgbClr val="A5D6A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038225" y="2438400"/>
            <a:ext cx="291777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We start by ingesting raw, messy data—over </a:t>
            </a: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5,000 claims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, patient records, and provider details.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1038225" y="4812208"/>
            <a:ext cx="29177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rPr>
              <a:t>Tech: Databricks Autoloader</a:t>
            </a:r>
            <a:endParaRPr lang="en-US" sz="1200" b="0" i="0" u="none" strike="noStrike" cap="none">
              <a:solidFill>
                <a:srgbClr val="88888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4651325" y="1866900"/>
            <a:ext cx="306366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5D6A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REFINE (SILVER)</a:t>
            </a:r>
            <a:endParaRPr lang="en-US" sz="1650" b="0" i="0" u="none" strike="noStrike" cap="none">
              <a:solidFill>
                <a:srgbClr val="A5D6A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4651325" y="2438400"/>
            <a:ext cx="2917775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Data is cleaned and enriched. We calculate key metrics like </a:t>
            </a: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 deviation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per procedure to establish a baseline of "normal."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4651325" y="4812208"/>
            <a:ext cx="29177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rPr>
              <a:t>Tech: PySpark / Delta Lake</a:t>
            </a:r>
            <a:endParaRPr lang="en-US" sz="1200" b="0" i="0" u="none" strike="noStrike" cap="none">
              <a:solidFill>
                <a:srgbClr val="88888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8264425" y="1866900"/>
            <a:ext cx="306382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5D6A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ANALYZE (GOLD)</a:t>
            </a:r>
            <a:endParaRPr lang="en-US" sz="1650" b="0" i="0" u="none" strike="noStrike" cap="none">
              <a:solidFill>
                <a:srgbClr val="A5D6A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8264425" y="2438400"/>
            <a:ext cx="2917924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The ML Engine takes over. Claims are scored for probability of fraud and passed to the RAG layer for indexing.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8264425" y="4812208"/>
            <a:ext cx="2917924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rPr>
              <a:t>Tech: MLflow / Random Forest</a:t>
            </a:r>
            <a:endParaRPr lang="en-US" sz="1200" b="0" i="0" u="none" strike="noStrike" cap="none">
              <a:solidFill>
                <a:srgbClr val="88888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/>
        </p:nvSpPr>
        <p:spPr>
          <a:xfrm>
            <a:off x="771525" y="581025"/>
            <a:ext cx="1118139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Brains of the Operation</a:t>
            </a:r>
            <a:endParaRPr lang="en-US" sz="36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771525" y="1333500"/>
            <a:ext cx="106489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771525" y="18383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We use a dual-model approach to ensure nothing slips through the cracks.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71525" y="2383035"/>
            <a:ext cx="529066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A5D6A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Random Forest (The Expert)</a:t>
            </a:r>
            <a:endParaRPr lang="en-US" sz="1950" b="0" i="0" u="none" strike="noStrike" cap="none">
              <a:solidFill>
                <a:srgbClr val="A5D6A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771525" y="2887860"/>
            <a:ext cx="5038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Role: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Catches what we </a:t>
            </a:r>
            <a:r>
              <a:rPr lang="en-US" sz="1650" b="0" i="1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know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771525" y="3432571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It looks for known patterns like billing deviation and provider history. It's our precision instrument.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6381750" y="2383035"/>
            <a:ext cx="529066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A5D6A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Isolation Forest (The Watchdog)</a:t>
            </a:r>
            <a:endParaRPr lang="en-US" sz="1950" b="0" i="0" u="none" strike="noStrike" cap="none">
              <a:solidFill>
                <a:srgbClr val="A5D6A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6381750" y="2887860"/>
            <a:ext cx="5038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Role: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Catches what we </a:t>
            </a:r>
            <a:r>
              <a:rPr lang="en-US" sz="1650" b="0" i="1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don't know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6381750" y="3432571"/>
            <a:ext cx="50387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It doesn't need labeled data. It simply looks for statistical anomalies—claims that just "don't look right" compared to the rest.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895350" y="4313396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1009650" y="4312443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95% Overall Accuracy</a:t>
            </a:r>
            <a:endParaRPr lang="en-US" sz="1650" b="0" i="0" u="none" strike="noStrike" cap="non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895350" y="4791432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1009650" y="4790479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Signal: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Amount Deviation (28% importance)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505575" y="4648557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6619875" y="4647604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Unsupervised Learning</a:t>
            </a:r>
            <a:endParaRPr lang="en-US" sz="1650" b="0" i="0" u="none" strike="noStrike" cap="non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6505575" y="5126593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6619875" y="5125640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Identifies novel fraud schemes.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/>
          <p:nvPr/>
        </p:nvSpPr>
        <p:spPr>
          <a:xfrm>
            <a:off x="771525" y="581025"/>
            <a:ext cx="1118139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We Uncovered</a:t>
            </a:r>
            <a:endParaRPr lang="en-US" sz="36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771525" y="1333500"/>
            <a:ext cx="106489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771525" y="18383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Out of 5,000 processed claims, our system flagged </a:t>
            </a: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662 suspicious cases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across five distinct patterns.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895350" y="2383988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1009650" y="2383035"/>
            <a:ext cx="4800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Duplicate Billing (104 cases):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rPr>
              <a:t>The classic "double dip"—billing twice for one visit.</a:t>
            </a:r>
            <a:endParaRPr lang="en-US" sz="1650" b="0" i="0" u="none" strike="noStrike" cap="none">
              <a:solidFill>
                <a:srgbClr val="88888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895350" y="3197185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1009650" y="3196232"/>
            <a:ext cx="4800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Abnormal Pricing (83 cases):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rPr>
              <a:t>Charging 300-500% above market rate.</a:t>
            </a:r>
            <a:endParaRPr lang="en-US" sz="1650" b="0" i="0" u="none" strike="noStrike" cap="none">
              <a:solidFill>
                <a:srgbClr val="88888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895350" y="4010382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1009650" y="4009429"/>
            <a:ext cx="4800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Procedure Mismatch (75 cases):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rPr>
              <a:t>e.g., A Dermatologist billing for open heart surgery.</a:t>
            </a:r>
            <a:endParaRPr lang="en-US" sz="1650" b="0" i="0" u="none" strike="noStrike" cap="none">
              <a:solidFill>
                <a:srgbClr val="88888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6505575" y="2383988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6619875" y="2383035"/>
            <a:ext cx="48006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Upcoding (73 cases):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rPr>
              <a:t>Billing for a complex procedure when a simple one was performed.</a:t>
            </a:r>
            <a:endParaRPr lang="en-US" sz="1650" b="0" i="0" u="none" strike="noStrike" cap="none">
              <a:solidFill>
                <a:srgbClr val="88888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505575" y="3532346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619875" y="3531393"/>
            <a:ext cx="48006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Unbundling (65 cases):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888888"/>
                </a:solidFill>
                <a:latin typeface="Inter Light"/>
                <a:ea typeface="Inter Light"/>
                <a:cs typeface="Inter Light"/>
                <a:sym typeface="Inter Light"/>
              </a:rPr>
              <a:t>Breaking a package deal into expensive parts.</a:t>
            </a:r>
            <a:endParaRPr lang="en-US" sz="1650" b="0" i="0" u="none" strike="noStrike" cap="none">
              <a:solidFill>
                <a:srgbClr val="88888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1525" y="4428529"/>
            <a:ext cx="5038725" cy="191616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771525" y="581025"/>
            <a:ext cx="1118139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Conversational Intelligence (RAG)</a:t>
            </a:r>
            <a:endParaRPr lang="en-US" sz="36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71525" y="1333500"/>
            <a:ext cx="106489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771525" y="1838325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Imagine if an investigator could simply </a:t>
            </a:r>
            <a:r>
              <a:rPr lang="en-US" sz="1650" b="0" i="1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ask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the database a question.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771525" y="2927746"/>
            <a:ext cx="50387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We embedded our fraud findings into a </a:t>
            </a: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Vector Database (FAISS)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. Now, instead of writing complex SQL queries, users type natural language.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6381750" y="1628775"/>
            <a:ext cx="529066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 it works:</a:t>
            </a:r>
            <a:endParaRPr lang="en-US" sz="1950" b="0" i="0" u="none" strike="noStrike" cap="non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6381750" y="4247554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Result: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60-65% relevance scores, meaning the system understands context, not just keywords.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962025" y="4790479"/>
            <a:ext cx="46577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5D6A7"/>
                </a:solidFill>
                <a:latin typeface="Inter Light"/>
                <a:ea typeface="Inter Light"/>
                <a:cs typeface="Inter Light"/>
                <a:sym typeface="Inter Light"/>
              </a:rPr>
              <a:t>User Query:</a:t>
            </a:r>
            <a:endParaRPr lang="en-US" sz="1350" b="0" i="0" u="none" strike="noStrike" cap="none">
              <a:solidFill>
                <a:srgbClr val="A5D6A7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962025" y="5274319"/>
            <a:ext cx="46577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"Show me suspicious cardiology claims with high amounts."</a:t>
            </a:r>
            <a:endParaRPr lang="en-US" sz="1650" b="0" i="1" u="none" strike="noStrike" cap="none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6619875" y="2077402"/>
            <a:ext cx="1428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1.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6762750" y="2076450"/>
            <a:ext cx="46577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Embed: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Convert text descriptions of fraud into vectors.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6572250" y="2890599"/>
            <a:ext cx="190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2.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6762750" y="2889646"/>
            <a:ext cx="4657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Search: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Find semantically similar records.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6581775" y="3368635"/>
            <a:ext cx="1809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3.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6762750" y="3367682"/>
            <a:ext cx="46577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Explain: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The LLM wraps the result in a human-readable explanation.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1525" y="1628775"/>
            <a:ext cx="32956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48175" y="1628775"/>
            <a:ext cx="32956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124825" y="1628775"/>
            <a:ext cx="32956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71525" y="4143375"/>
            <a:ext cx="32956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48175" y="4143375"/>
            <a:ext cx="32956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124825" y="4143375"/>
            <a:ext cx="329565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771525" y="581025"/>
            <a:ext cx="1118139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By The Numbers</a:t>
            </a:r>
            <a:endParaRPr lang="en-US" sz="36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771525" y="1333500"/>
            <a:ext cx="106489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971550" y="1828800"/>
            <a:ext cx="28956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95%</a:t>
            </a:r>
            <a:endParaRPr lang="en-US" sz="42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971550" y="263842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MODEL ACCURACY</a:t>
            </a:r>
            <a:endParaRPr lang="en-US" sz="1350" b="0" i="0" u="none" strike="noStrike" cap="none">
              <a:solidFill>
                <a:srgbClr val="AAAAA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648200" y="1828800"/>
            <a:ext cx="28956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$15M+</a:t>
            </a:r>
            <a:endParaRPr lang="en-US" sz="42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648200" y="263842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POTENTIAL SAVINGS</a:t>
            </a:r>
            <a:endParaRPr lang="en-US" sz="1350" b="0" i="0" u="none" strike="noStrike" cap="none">
              <a:solidFill>
                <a:srgbClr val="AAAAA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8324850" y="1828800"/>
            <a:ext cx="28956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13.2%</a:t>
            </a:r>
            <a:endParaRPr lang="en-US" sz="42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8324850" y="263842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FRAUD DETECTION RATE</a:t>
            </a:r>
            <a:endParaRPr lang="en-US" sz="1350" b="0" i="0" u="none" strike="noStrike" cap="none">
              <a:solidFill>
                <a:srgbClr val="AAAAA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971550" y="4343400"/>
            <a:ext cx="28956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662</a:t>
            </a:r>
            <a:endParaRPr lang="en-US" sz="42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971550" y="515302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CLAIMS FLAGGED</a:t>
            </a:r>
            <a:endParaRPr lang="en-US" sz="1350" b="0" i="0" u="none" strike="noStrike" cap="none">
              <a:solidFill>
                <a:srgbClr val="AAAAA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4648200" y="4343400"/>
            <a:ext cx="28956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Secs</a:t>
            </a:r>
            <a:endParaRPr lang="en-US" sz="42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4648200" y="515302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TIME TO AUDIT (VS HOURS)</a:t>
            </a:r>
            <a:endParaRPr lang="en-US" sz="1350" b="0" i="0" u="none" strike="noStrike" cap="none">
              <a:solidFill>
                <a:srgbClr val="AAAAA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8324850" y="4343400"/>
            <a:ext cx="28956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  <a:endParaRPr lang="en-US" sz="42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8324850" y="5153025"/>
            <a:ext cx="28956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AAAA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PATTERNS ID'D</a:t>
            </a:r>
            <a:endParaRPr lang="en-US" sz="1350" b="0" i="0" u="none" strike="noStrike" cap="none">
              <a:solidFill>
                <a:srgbClr val="AAAAA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1525" y="1935360"/>
            <a:ext cx="3295650" cy="4776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48175" y="1842360"/>
            <a:ext cx="3295650" cy="4776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026250" y="1842360"/>
            <a:ext cx="3295650" cy="477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771525" y="581025"/>
            <a:ext cx="1118139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Under The Hood</a:t>
            </a:r>
            <a:endParaRPr lang="en-US" sz="36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771525" y="1333500"/>
            <a:ext cx="106489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771525" y="1588256"/>
            <a:ext cx="10649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We leveraged the full power of the Databricks ecosystem to build a production-grade solution.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1038225" y="2249811"/>
            <a:ext cx="293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5D6A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&amp; COMPUTE</a:t>
            </a:r>
            <a:endParaRPr lang="en-US" sz="1650" b="0" i="0" u="none" strike="noStrike" cap="none">
              <a:solidFill>
                <a:srgbClr val="A5D6A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1038225" y="2868803"/>
            <a:ext cx="2790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Databricks SQL Warehouse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for serverless compute power.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1038225" y="4220781"/>
            <a:ext cx="27909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Apache Spark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for massive parallel processing.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1038225" y="5287576"/>
            <a:ext cx="2790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Delta Lake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for ACID transactions and data reliability.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714875" y="2249799"/>
            <a:ext cx="293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5D6A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MACHINE LEARNING</a:t>
            </a:r>
            <a:endParaRPr lang="en-US" sz="1650" b="0" i="0" u="none" strike="noStrike" cap="none">
              <a:solidFill>
                <a:srgbClr val="A5D6A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714875" y="2921946"/>
            <a:ext cx="27909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Scikit-Learn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for model training.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714875" y="3988753"/>
            <a:ext cx="2790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MLflow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for tracking experiments and model registry.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714875" y="5706665"/>
            <a:ext cx="2790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Pandas/NumPy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for efficient data manipulation.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8391525" y="2249802"/>
            <a:ext cx="2930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5D6A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GENERATIVE AI</a:t>
            </a:r>
            <a:endParaRPr lang="en-US" sz="1650" b="0" i="0" u="none" strike="noStrike" cap="none">
              <a:solidFill>
                <a:srgbClr val="A5D6A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8391525" y="2921948"/>
            <a:ext cx="2790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Sentence Transformers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(all-MiniLM) for high-speed embeddings.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8391525" y="4220775"/>
            <a:ext cx="27909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FAISS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for sub-millisecond vector similarity search.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1525" y="4935884"/>
            <a:ext cx="10648950" cy="134109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771525" y="581025"/>
            <a:ext cx="1118139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Business Case</a:t>
            </a:r>
            <a:endParaRPr lang="en-US" sz="36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771525" y="1333500"/>
            <a:ext cx="106489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771525" y="183832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Why should an organization invest in this?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962025" y="5393084"/>
            <a:ext cx="102679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ROI Estimate:</a:t>
            </a:r>
            <a:r>
              <a:rPr lang="en-US" sz="2100" b="0" i="0" u="none" strike="noStrike" cap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 For every $1 invested, we save $10-15 in prevented fraud.</a:t>
            </a:r>
            <a:endParaRPr lang="en-US" sz="2100" b="0" i="0" u="none" strike="noStrike" cap="none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771525" y="2383035"/>
            <a:ext cx="529066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Immediate Cost Savings</a:t>
            </a:r>
            <a:endParaRPr lang="en-US" sz="1950" b="0" i="0" u="none" strike="noStrike" cap="non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771525" y="2887860"/>
            <a:ext cx="50387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By automating the initial review, we reduce manual workload by </a:t>
            </a: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90%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. This allows human investigators to focus only on the most complex, high-value cases.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6381750" y="2383035"/>
            <a:ext cx="529066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Revenue Protection</a:t>
            </a:r>
            <a:endParaRPr lang="en-US" sz="1950" b="0" i="0" u="none" strike="noStrike" cap="non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6381750" y="2887860"/>
            <a:ext cx="50387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In our pilot alone, we flagged </a:t>
            </a: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$15 Million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in suspicious claims. Scaling this system means preventing losses before they are paid out.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71525" y="1628775"/>
            <a:ext cx="335905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16325" y="1628775"/>
            <a:ext cx="3359199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061275" y="1628775"/>
            <a:ext cx="335905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771525" y="581025"/>
            <a:ext cx="1118139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Roadmap to the Future</a:t>
            </a:r>
            <a:endParaRPr lang="en-US" sz="36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771525" y="1333500"/>
            <a:ext cx="106489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1038225" y="1866900"/>
            <a:ext cx="299693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5D6A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PHASE 1: FOUNDATION (NOW)</a:t>
            </a:r>
            <a:endParaRPr lang="en-US" sz="1650" b="0" i="0" u="none" strike="noStrike" cap="none">
              <a:solidFill>
                <a:srgbClr val="A5D6A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1038225" y="2686050"/>
            <a:ext cx="28542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Batch processing pipeline.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1038225" y="3440310"/>
            <a:ext cx="28542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RAG Chatbot MVP.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1038225" y="4194571"/>
            <a:ext cx="28542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Core fraud pattern detection.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4683025" y="1866900"/>
            <a:ext cx="2997093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5D6A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PHASE 2: SCALE</a:t>
            </a:r>
            <a:endParaRPr lang="en-US" sz="1650" b="0" i="0" u="none" strike="noStrike" cap="none">
              <a:solidFill>
                <a:srgbClr val="A5D6A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4683025" y="2438400"/>
            <a:ext cx="2854374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Real-Time Streaming: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Using Spark Structured Streaming to catch fraud the millisecond it hits the server.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4683025" y="4198143"/>
            <a:ext cx="2854374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Graph Analysis: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 Detecting organized crime rings via relationship mapping.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8327975" y="1866900"/>
            <a:ext cx="29969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5D6A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PHASE 3: INTEGRATION</a:t>
            </a:r>
            <a:endParaRPr lang="en-US" sz="1650" b="0" i="0" u="none" strike="noStrike" cap="none">
              <a:solidFill>
                <a:srgbClr val="A5D6A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8327975" y="2438400"/>
            <a:ext cx="28542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Integration with Electronic Health Records (EHR) to validate claims against clinical notes.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8327975" y="4198143"/>
            <a:ext cx="2854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Mobile app for field investigators.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 txBox="1"/>
          <p:nvPr/>
        </p:nvSpPr>
        <p:spPr>
          <a:xfrm>
            <a:off x="505301" y="581025"/>
            <a:ext cx="1118139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A5D6A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Final Verdict</a:t>
            </a:r>
            <a:endParaRPr lang="en-US" sz="3600" b="1" i="0" u="none" strike="noStrike" cap="none">
              <a:solidFill>
                <a:srgbClr val="A5D6A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771525" y="1333500"/>
            <a:ext cx="10648950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771525" y="1933575"/>
            <a:ext cx="10648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We didn't just build a tool. We built a shield.</a:t>
            </a:r>
            <a:endParaRPr lang="en-US" sz="2400" b="0" i="0" u="none" strike="noStrike" cap="none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771525" y="5732264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5D6A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Built on Databricks. Powered by AI. Designed for Scale.</a:t>
            </a:r>
            <a:endParaRPr lang="en-US" sz="1650" b="0" i="0" u="none" strike="noStrike" cap="none">
              <a:solidFill>
                <a:srgbClr val="A5D6A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771525" y="2802135"/>
            <a:ext cx="529066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We Delivered</a:t>
            </a:r>
            <a:endParaRPr lang="en-US" sz="1950" b="0" i="0" u="none" strike="noStrike" cap="non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6381750" y="2802135"/>
            <a:ext cx="529066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Impact</a:t>
            </a:r>
            <a:endParaRPr lang="en-US" sz="1950" b="0" i="0" u="none" strike="noStrike" cap="non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895350" y="3212663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98" name="Google Shape;298;p24"/>
          <p:cNvSpPr txBox="1"/>
          <p:nvPr/>
        </p:nvSpPr>
        <p:spPr>
          <a:xfrm>
            <a:off x="1009650" y="3211710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✓ A complete Bronze-to-Gold Pipeline.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895350" y="3690699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1009650" y="3689746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✓ 95% Accurate Fraud Detection.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1" name="Google Shape;301;p24"/>
          <p:cNvSpPr txBox="1"/>
          <p:nvPr/>
        </p:nvSpPr>
        <p:spPr>
          <a:xfrm>
            <a:off x="895350" y="4168735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2" name="Google Shape;302;p24"/>
          <p:cNvSpPr txBox="1"/>
          <p:nvPr/>
        </p:nvSpPr>
        <p:spPr>
          <a:xfrm>
            <a:off x="1009650" y="4167782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✓ A Revolutionary "Chat-with-Data" Interface.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6505575" y="3212663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4" name="Google Shape;304;p24"/>
          <p:cNvSpPr txBox="1"/>
          <p:nvPr/>
        </p:nvSpPr>
        <p:spPr>
          <a:xfrm>
            <a:off x="6619875" y="3211710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✓ $15M+ Potential Savings Identified.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6505575" y="3690699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6619875" y="3689746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✓ 5 Distinct Fraud Patterns Uncovered.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7" name="Google Shape;307;p24"/>
          <p:cNvSpPr txBox="1"/>
          <p:nvPr/>
        </p:nvSpPr>
        <p:spPr>
          <a:xfrm>
            <a:off x="6505575" y="4168735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08" name="Google Shape;308;p24"/>
          <p:cNvSpPr txBox="1"/>
          <p:nvPr/>
        </p:nvSpPr>
        <p:spPr>
          <a:xfrm>
            <a:off x="6619875" y="4167782"/>
            <a:ext cx="48006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Inter Light"/>
                <a:ea typeface="Inter Light"/>
                <a:cs typeface="Inter Light"/>
                <a:sym typeface="Inter Light"/>
              </a:rPr>
              <a:t>✓ Production-Ready on Day 1.</a:t>
            </a:r>
            <a:endParaRPr lang="en-US" sz="1650" b="0" i="0" u="none" strike="noStrike" cap="none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5"/>
          <p:cNvSpPr txBox="1"/>
          <p:nvPr/>
        </p:nvSpPr>
        <p:spPr>
          <a:xfrm>
            <a:off x="771525" y="1854547"/>
            <a:ext cx="11181397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</a:t>
            </a:r>
            <a:endParaRPr lang="en-US" sz="6000" b="1" i="0" u="none" strike="noStrike" cap="none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15" name="Google Shape;315;p25"/>
          <p:cNvSpPr txBox="1"/>
          <p:nvPr/>
        </p:nvSpPr>
        <p:spPr>
          <a:xfrm>
            <a:off x="771525" y="2883247"/>
            <a:ext cx="106489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A5D6A7"/>
                </a:solidFill>
                <a:latin typeface="Inter Light"/>
                <a:ea typeface="Inter Light"/>
                <a:cs typeface="Inter Light"/>
                <a:sym typeface="Inter Light"/>
              </a:rPr>
              <a:t>Questions?</a:t>
            </a:r>
            <a:endParaRPr lang="en-US" sz="2400" b="0" i="0" u="none" strike="noStrike" cap="none">
              <a:solidFill>
                <a:srgbClr val="A5D6A7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316" name="Google Shape;316;p2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71525" y="4207222"/>
            <a:ext cx="2952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 txBox="1"/>
          <p:nvPr/>
        </p:nvSpPr>
        <p:spPr>
          <a:xfrm>
            <a:off x="771525" y="4607275"/>
            <a:ext cx="62967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1200" u="sng">
                <a:solidFill>
                  <a:schemeClr val="hlink"/>
                </a:solidFill>
                <a:latin typeface="Inter Light"/>
                <a:ea typeface="Inter Light"/>
                <a:cs typeface="Inter Light"/>
                <a:sym typeface="Inter Light"/>
                <a:hlinkClick r:id="rId3"/>
              </a:rPr>
              <a:t>https://github.com/Atul-0515/Abacus-Assignment</a:t>
            </a:r>
            <a:endParaRPr sz="1200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CCCCCC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318" name="Google Shape;318;p25"/>
          <p:cNvSpPr txBox="1"/>
          <p:nvPr/>
        </p:nvSpPr>
        <p:spPr>
          <a:xfrm>
            <a:off x="2047875" y="4607272"/>
            <a:ext cx="942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5722</Words>
  <Application>WPS Presentation</Application>
  <PresentationFormat/>
  <Paragraphs>307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Helvetica Neue</vt:lpstr>
      <vt:lpstr>Playfair Display</vt:lpstr>
      <vt:lpstr>Inter Light</vt:lpstr>
      <vt:lpstr>Inter SemiBold</vt:lpstr>
      <vt:lpstr>Inter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Atul Kumar</cp:lastModifiedBy>
  <cp:revision>1</cp:revision>
  <dcterms:created xsi:type="dcterms:W3CDTF">2025-12-11T07:18:54Z</dcterms:created>
  <dcterms:modified xsi:type="dcterms:W3CDTF">2025-12-11T07:18:54Z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37CB321503B463305E703A69517AFE14_42</vt:lpwstr>
  </property>
  <property fmtid="{D5CDD505-2E9C-101B-9397-08002B2CF9AE}" pid="3" name="KSOProductBuildVer">
    <vt:lpwstr>1033-12.1.23152.23152</vt:lpwstr>
  </property>
</Properties>
</file>